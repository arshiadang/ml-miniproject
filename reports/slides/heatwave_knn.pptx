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5060f9220d4a36" /><Relationship Type="http://schemas.openxmlformats.org/officeDocument/2006/relationships/extended-properties" Target="/docProps/app.xml" Id="R6c1808c359b643d2" /><Relationship Type="http://schemas.openxmlformats.org/officeDocument/2006/relationships/officeDocument" Target="/ppt/presentation.xml" Id="R4394d3a05e6841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22a425cb824306"/>
  </p:sldMasterIdLst>
  <p:notesMasterIdLst>
    <p:notesMasterId xmlns:r="http://schemas.openxmlformats.org/officeDocument/2006/relationships" r:id="R4c67b150109c479a"/>
  </p:notesMasterIdLst>
  <p:sldIdLst>
    <p:sldId xmlns:r="http://schemas.openxmlformats.org/officeDocument/2006/relationships" id="256" r:id="Rb4c21b0aef4747ce"/>
    <p:sldId xmlns:r="http://schemas.openxmlformats.org/officeDocument/2006/relationships" id="257" r:id="R53beba32b04a43b4"/>
    <p:sldId xmlns:r="http://schemas.openxmlformats.org/officeDocument/2006/relationships" id="258" r:id="Rb0ec7ef446ff4412"/>
    <p:sldId xmlns:r="http://schemas.openxmlformats.org/officeDocument/2006/relationships" id="259" r:id="R643edace19f543d7"/>
    <p:sldId xmlns:r="http://schemas.openxmlformats.org/officeDocument/2006/relationships" id="260" r:id="R92410273ed354bd4"/>
    <p:sldId xmlns:r="http://schemas.openxmlformats.org/officeDocument/2006/relationships" id="261" r:id="Re28cb3d84e994040"/>
    <p:sldId xmlns:r="http://schemas.openxmlformats.org/officeDocument/2006/relationships" id="262" r:id="R495f8006fcd941e8"/>
    <p:sldId xmlns:r="http://schemas.openxmlformats.org/officeDocument/2006/relationships" id="263" r:id="R1c2701fd9ec14181"/>
    <p:sldId xmlns:r="http://schemas.openxmlformats.org/officeDocument/2006/relationships" id="264" r:id="R0d7fe6a690d54175"/>
    <p:sldId xmlns:r="http://schemas.openxmlformats.org/officeDocument/2006/relationships" id="265" r:id="R66773cdc77ee4d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2b1a994f05493a" /><Relationship Type="http://schemas.openxmlformats.org/officeDocument/2006/relationships/slideMaster" Target="/ppt/slideMasters/slideMaster1.xml" Id="R7f22a425cb824306" /><Relationship Type="http://schemas.openxmlformats.org/officeDocument/2006/relationships/notesMaster" Target="/ppt/notesMasters/notesMaster1.xml" Id="R4c67b150109c479a" /><Relationship Type="http://schemas.openxmlformats.org/officeDocument/2006/relationships/presProps" Target="/ppt/presProps.xml" Id="R6a863518c9f84107" /><Relationship Type="http://schemas.openxmlformats.org/officeDocument/2006/relationships/tableStyles" Target="/ppt/tableStyles.xml" Id="R53a0bbc88990466a" /><Relationship Type="http://schemas.openxmlformats.org/officeDocument/2006/relationships/slide" Target="/ppt/slides/slide1.xml" Id="Rb4c21b0aef4747ce" /><Relationship Type="http://schemas.openxmlformats.org/officeDocument/2006/relationships/slide" Target="/ppt/slides/slide2.xml" Id="R53beba32b04a43b4" /><Relationship Type="http://schemas.openxmlformats.org/officeDocument/2006/relationships/slide" Target="/ppt/slides/slide3.xml" Id="Rb0ec7ef446ff4412" /><Relationship Type="http://schemas.openxmlformats.org/officeDocument/2006/relationships/slide" Target="/ppt/slides/slide4.xml" Id="R643edace19f543d7" /><Relationship Type="http://schemas.openxmlformats.org/officeDocument/2006/relationships/slide" Target="/ppt/slides/slide5.xml" Id="R92410273ed354bd4" /><Relationship Type="http://schemas.openxmlformats.org/officeDocument/2006/relationships/slide" Target="/ppt/slides/slide6.xml" Id="Re28cb3d84e994040" /><Relationship Type="http://schemas.openxmlformats.org/officeDocument/2006/relationships/slide" Target="/ppt/slides/slide7.xml" Id="R495f8006fcd941e8" /><Relationship Type="http://schemas.openxmlformats.org/officeDocument/2006/relationships/slide" Target="/ppt/slides/slide8.xml" Id="R1c2701fd9ec14181" /><Relationship Type="http://schemas.openxmlformats.org/officeDocument/2006/relationships/slide" Target="/ppt/slides/slide9.xml" Id="R0d7fe6a690d54175" /><Relationship Type="http://schemas.openxmlformats.org/officeDocument/2006/relationships/slide" Target="/ppt/slides/slide10.xml" Id="R66773cdc77ee4d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2193a4ceea4d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4ad3de2f384c0f" /><Relationship Type="http://schemas.openxmlformats.org/officeDocument/2006/relationships/notesMaster" Target="/ppt/notesMasters/notesMaster1.xml" Id="R96c6560dcfc749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a96fe5a5074778" /><Relationship Type="http://schemas.openxmlformats.org/officeDocument/2006/relationships/notesMaster" Target="/ppt/notesMasters/notesMaster1.xml" Id="Re43ae0ce674b44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a13103b81f4428" /><Relationship Type="http://schemas.openxmlformats.org/officeDocument/2006/relationships/notesMaster" Target="/ppt/notesMasters/notesMaster1.xml" Id="R71e4930be71547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c466e14f484b05" /><Relationship Type="http://schemas.openxmlformats.org/officeDocument/2006/relationships/notesMaster" Target="/ppt/notesMasters/notesMaster1.xml" Id="R0a2bc3b2dbe34c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a87002436246f4" /><Relationship Type="http://schemas.openxmlformats.org/officeDocument/2006/relationships/notesMaster" Target="/ppt/notesMasters/notesMaster1.xml" Id="R21296fafb03849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37a620512d4900" /><Relationship Type="http://schemas.openxmlformats.org/officeDocument/2006/relationships/notesMaster" Target="/ppt/notesMasters/notesMaster1.xml" Id="R8c5006d4fd7e4b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d1f626988845a6" /><Relationship Type="http://schemas.openxmlformats.org/officeDocument/2006/relationships/notesMaster" Target="/ppt/notesMasters/notesMaster1.xml" Id="R85770165aee643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e519e772d2421e" /><Relationship Type="http://schemas.openxmlformats.org/officeDocument/2006/relationships/notesMaster" Target="/ppt/notesMasters/notesMaster1.xml" Id="R30e22c04b35b4a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6dde130532463e" /><Relationship Type="http://schemas.openxmlformats.org/officeDocument/2006/relationships/notesMaster" Target="/ppt/notesMasters/notesMaster1.xml" Id="R3a89d23c1afb4e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55733c704442f2" /><Relationship Type="http://schemas.openxmlformats.org/officeDocument/2006/relationships/notesMaster" Target="/ppt/notesMasters/notesMaster1.xml" Id="R62cec47eea2744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Final Design Spec revision 2. Dataset and all result tables: notebooks/analysis.ipynb.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IMD: https://www.imdpune.gov.in/cmpg/Griddata/Max_1_Bin.html . geoBoundaries source/license: data/boundaries/source.json. IMD files 1991–2025 were downloaded and byte-count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approved design revision 2, section 6.3. The rules have not been verified against published IMD criteria. Applied per cell/day without station-level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reports/results/class_counts.csv. The model cannot produce a class absent from its fitted training labels. Macro-F1 uses all three requested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heatwave/pipeline.py and heatwave/model.py. StandardScaler is refit within each leave-one-year-out training fold.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reports/results/grid_search.csv. Curves show mean train and validation scores across leave-one-year-out folds. Full notebook plots also display fold standard deviation.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reports/results/metrics.csv and classification_report.csv. Test years: 2023–2025. Majority baseline uses the most common training class.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reports/results/noise_mean.csv. Five seeds: 11,23,37,51,71. Only Tmax is perturbed. Normal stays fixed. Curves use the selected K, metric and weighting. Full notebook covers all 13 K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app.py, heatwave/demo.py, reports/report.md. User-provided design requires explicit disclosure that labels derive from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reports/report.md and approved design revision 2. Retaining the locked rules and split is deliberate. Widening scope requires a documented protocol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d94cb722549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bcf76bb65f4d29" /><Relationship Type="http://schemas.openxmlformats.org/officeDocument/2006/relationships/slideLayout" Target="/ppt/slideLayouts/slideLayout1.xml" Id="R14f9a568857545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f9a568857545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d7b77e95f465b" /><Relationship Type="http://schemas.openxmlformats.org/officeDocument/2006/relationships/notesSlide" Target="/ppt/notesSlides/notesSlide1.xml" Id="R9cb8b7070bf24f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f346c5eeb46d8" /><Relationship Type="http://schemas.openxmlformats.org/officeDocument/2006/relationships/notesSlide" Target="/ppt/notesSlides/notesSlide2.xml" Id="R79da7bdeda7f49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c227c251f4256" /><Relationship Type="http://schemas.openxmlformats.org/officeDocument/2006/relationships/notesSlide" Target="/ppt/notesSlides/notesSlide3.xml" Id="Rd90aae5546454e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7d12d3a7b448b" /><Relationship Type="http://schemas.openxmlformats.org/officeDocument/2006/relationships/notesSlide" Target="/ppt/notesSlides/notesSlide4.xml" Id="Rebd31616cbd749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e68da069b44ee" /><Relationship Type="http://schemas.openxmlformats.org/officeDocument/2006/relationships/notesSlide" Target="/ppt/notesSlides/notesSlide5.xml" Id="R61a32581a38a41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1562c36b7440b" /><Relationship Type="http://schemas.openxmlformats.org/officeDocument/2006/relationships/chart" Target="/ppt/slides/charts/chart1.xml" Id="R9dc304357c404b7d" /><Relationship Type="http://schemas.openxmlformats.org/officeDocument/2006/relationships/chart" Target="/ppt/slides/charts/chart2.xml" Id="R4bb6038b86ba49a2" /><Relationship Type="http://schemas.openxmlformats.org/officeDocument/2006/relationships/notesSlide" Target="/ppt/notesSlides/notesSlide6.xml" Id="Ra7269bcd723a45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e74c567ff407a" /><Relationship Type="http://schemas.openxmlformats.org/officeDocument/2006/relationships/notesSlide" Target="/ppt/notesSlides/notesSlide7.xml" Id="R793423b3080c40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0dfae056140b4" /><Relationship Type="http://schemas.openxmlformats.org/officeDocument/2006/relationships/chart" Target="/ppt/slides/charts/chart3.xml" Id="R5a60f0dff8244b1e" /><Relationship Type="http://schemas.openxmlformats.org/officeDocument/2006/relationships/notesSlide" Target="/ppt/notesSlides/notesSlide8.xml" Id="R1b178de2d3514e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05885503140a0" /><Relationship Type="http://schemas.openxmlformats.org/officeDocument/2006/relationships/notesSlide" Target="/ppt/notesSlides/notesSlide9.xml" Id="R76756d3afd9843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35ce7f65d4b4c" /><Relationship Type="http://schemas.openxmlformats.org/officeDocument/2006/relationships/notesSlide" Target="/ppt/notesSlides/notesSlide10.xml" Id="R88d4167b66d0416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16343B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Train</c:v>
          </c:tx>
          <c:spPr>
            <a:ln xmlns:a="http://schemas.openxmlformats.org/drawingml/2006/main" w="28575">
              <a:solidFill>
                <a:srgbClr val="237B77"/>
              </a:solidFill>
            </a:ln>
          </c:spPr>
          <c:marker>
            <c:symbol val="none"/>
          </c:marker>
          <c:cat>
            <c:numRef>
              <c:f>'Chart Data'!$A$2:$A$14</c:f>
              <c:numCache>
                <c:formatCode>General</c:formatCode>
                <c:ptCount val="13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17</c:v>
                </c:pt>
                <c:pt idx="9">
                  <c:v>19</c:v>
                </c:pt>
                <c:pt idx="10">
                  <c:v>21</c:v>
                </c:pt>
                <c:pt idx="11">
                  <c:v>23</c:v>
                </c:pt>
                <c:pt idx="12">
                  <c:v>25</c:v>
                </c:pt>
              </c:numCache>
            </c:numRef>
          </c:cat>
          <c:val>
            <c:numRef>
              <c:f>'Chart Data'!$B$2:$B$14</c:f>
              <c:numCache>
                <c:formatCode>0.0</c:formatCode>
                <c:ptCount val="13"/>
                <c:pt idx="0">
                  <c:v>1</c:v>
                </c:pt>
                <c:pt idx="1">
                  <c:v>0.99921748</c:v>
                </c:pt>
                <c:pt idx="2">
                  <c:v>0.99890785</c:v>
                </c:pt>
                <c:pt idx="3">
                  <c:v>0.99857571</c:v>
                </c:pt>
                <c:pt idx="4">
                  <c:v>0.99829423</c:v>
                </c:pt>
                <c:pt idx="5">
                  <c:v>0.99797334</c:v>
                </c:pt>
                <c:pt idx="6">
                  <c:v>0.99781008</c:v>
                </c:pt>
                <c:pt idx="7">
                  <c:v>0.9976243</c:v>
                </c:pt>
                <c:pt idx="8">
                  <c:v>0.99738223</c:v>
                </c:pt>
                <c:pt idx="9">
                  <c:v>0.99730904</c:v>
                </c:pt>
                <c:pt idx="10">
                  <c:v>0.99717956</c:v>
                </c:pt>
                <c:pt idx="11">
                  <c:v>0.99714015</c:v>
                </c:pt>
                <c:pt idx="12">
                  <c:v>0.99710075</c:v>
                </c:pt>
              </c:numCache>
            </c:numRef>
          </c:val>
          <c:smooth val="0"/>
        </c:ser>
        <c:ser>
          <c:idx val="1"/>
          <c:order val="1"/>
          <c:tx>
            <c:v>Cross-validation</c:v>
          </c:tx>
          <c:spPr>
            <a:ln xmlns:a="http://schemas.openxmlformats.org/drawingml/2006/main" w="28575">
              <a:solidFill>
                <a:srgbClr val="D18B29"/>
              </a:solidFill>
            </a:ln>
          </c:spPr>
          <c:marker>
            <c:symbol val="none"/>
          </c:marker>
          <c:cat>
            <c:numRef>
              <c:f>'Chart Data'!$C$2:$C$14</c:f>
              <c:numCache>
                <c:formatCode>General</c:formatCode>
                <c:ptCount val="13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17</c:v>
                </c:pt>
                <c:pt idx="9">
                  <c:v>19</c:v>
                </c:pt>
                <c:pt idx="10">
                  <c:v>21</c:v>
                </c:pt>
                <c:pt idx="11">
                  <c:v>23</c:v>
                </c:pt>
                <c:pt idx="12">
                  <c:v>25</c:v>
                </c:pt>
              </c:numCache>
            </c:numRef>
          </c:cat>
          <c:val>
            <c:numRef>
              <c:f>'Chart Data'!$D$2:$D$14</c:f>
              <c:numCache>
                <c:formatCode>0.0</c:formatCode>
                <c:ptCount val="13"/>
                <c:pt idx="0">
                  <c:v>0.99696564</c:v>
                </c:pt>
                <c:pt idx="1">
                  <c:v>0.99625631</c:v>
                </c:pt>
                <c:pt idx="2">
                  <c:v>0.99633512</c:v>
                </c:pt>
                <c:pt idx="3">
                  <c:v>0.9962169</c:v>
                </c:pt>
                <c:pt idx="4">
                  <c:v>0.99594105</c:v>
                </c:pt>
                <c:pt idx="5">
                  <c:v>0.99609868</c:v>
                </c:pt>
                <c:pt idx="6">
                  <c:v>0.99601986</c:v>
                </c:pt>
                <c:pt idx="7">
                  <c:v>0.99590164</c:v>
                </c:pt>
                <c:pt idx="8">
                  <c:v>0.99594105</c:v>
                </c:pt>
                <c:pt idx="9">
                  <c:v>0.99598045</c:v>
                </c:pt>
                <c:pt idx="10">
                  <c:v>0.99605927</c:v>
                </c:pt>
                <c:pt idx="11">
                  <c:v>0.99594105</c:v>
                </c:pt>
                <c:pt idx="12">
                  <c:v>0.99594105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Accuracy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Macro-F1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16343B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Train</c:v>
          </c:tx>
          <c:spPr>
            <a:ln xmlns:a="http://schemas.openxmlformats.org/drawingml/2006/main" w="28575">
              <a:solidFill>
                <a:srgbClr val="237B77"/>
              </a:solidFill>
            </a:ln>
          </c:spPr>
          <c:marker>
            <c:symbol val="none"/>
          </c:marker>
          <c:cat>
            <c:numRef>
              <c:f>'Chart Data'!$A$2:$A$14</c:f>
              <c:numCache>
                <c:formatCode>General</c:formatCode>
                <c:ptCount val="13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17</c:v>
                </c:pt>
                <c:pt idx="9">
                  <c:v>19</c:v>
                </c:pt>
                <c:pt idx="10">
                  <c:v>21</c:v>
                </c:pt>
                <c:pt idx="11">
                  <c:v>23</c:v>
                </c:pt>
                <c:pt idx="12">
                  <c:v>25</c:v>
                </c:pt>
              </c:numCache>
            </c:numRef>
          </c:cat>
          <c:val>
            <c:numRef>
              <c:f>'Chart Data'!$B$2:$B$14</c:f>
              <c:numCache>
                <c:formatCode>0.0</c:formatCode>
                <c:ptCount val="13"/>
                <c:pt idx="0">
                  <c:v>0.66666667</c:v>
                </c:pt>
                <c:pt idx="1">
                  <c:v>0.64289755</c:v>
                </c:pt>
                <c:pt idx="2">
                  <c:v>0.63172451</c:v>
                </c:pt>
                <c:pt idx="3">
                  <c:v>0.61946309</c:v>
                </c:pt>
                <c:pt idx="4">
                  <c:v>0.60625785</c:v>
                </c:pt>
                <c:pt idx="5">
                  <c:v>0.5927093</c:v>
                </c:pt>
                <c:pt idx="6">
                  <c:v>0.5862777</c:v>
                </c:pt>
                <c:pt idx="7">
                  <c:v>0.57780462</c:v>
                </c:pt>
                <c:pt idx="8">
                  <c:v>0.56528424</c:v>
                </c:pt>
                <c:pt idx="9">
                  <c:v>0.56186332</c:v>
                </c:pt>
                <c:pt idx="10">
                  <c:v>0.55513129</c:v>
                </c:pt>
                <c:pt idx="11">
                  <c:v>0.55321065</c:v>
                </c:pt>
                <c:pt idx="12">
                  <c:v>0.55046658</c:v>
                </c:pt>
              </c:numCache>
            </c:numRef>
          </c:val>
          <c:smooth val="0"/>
        </c:ser>
        <c:ser>
          <c:idx val="1"/>
          <c:order val="1"/>
          <c:tx>
            <c:v>Cross-validation</c:v>
          </c:tx>
          <c:spPr>
            <a:ln xmlns:a="http://schemas.openxmlformats.org/drawingml/2006/main" w="28575">
              <a:solidFill>
                <a:srgbClr val="D18B29"/>
              </a:solidFill>
            </a:ln>
          </c:spPr>
          <c:marker>
            <c:symbol val="none"/>
          </c:marker>
          <c:cat>
            <c:numRef>
              <c:f>'Chart Data'!$C$2:$C$14</c:f>
              <c:numCache>
                <c:formatCode>General</c:formatCode>
                <c:ptCount val="13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17</c:v>
                </c:pt>
                <c:pt idx="9">
                  <c:v>19</c:v>
                </c:pt>
                <c:pt idx="10">
                  <c:v>21</c:v>
                </c:pt>
                <c:pt idx="11">
                  <c:v>23</c:v>
                </c:pt>
                <c:pt idx="12">
                  <c:v>25</c:v>
                </c:pt>
              </c:numCache>
            </c:numRef>
          </c:cat>
          <c:val>
            <c:numRef>
              <c:f>'Chart Data'!$D$2:$D$14</c:f>
              <c:numCache>
                <c:formatCode>0.0</c:formatCode>
                <c:ptCount val="13"/>
                <c:pt idx="0">
                  <c:v>0.55334178</c:v>
                </c:pt>
                <c:pt idx="1">
                  <c:v>0.52441688</c:v>
                </c:pt>
                <c:pt idx="2">
                  <c:v>0.53559245</c:v>
                </c:pt>
                <c:pt idx="3">
                  <c:v>0.50448901</c:v>
                </c:pt>
                <c:pt idx="4">
                  <c:v>0.49478914</c:v>
                </c:pt>
                <c:pt idx="5">
                  <c:v>0.49641842</c:v>
                </c:pt>
                <c:pt idx="6">
                  <c:v>0.49444794</c:v>
                </c:pt>
                <c:pt idx="7">
                  <c:v>0.49281906</c:v>
                </c:pt>
                <c:pt idx="8">
                  <c:v>0.48041348</c:v>
                </c:pt>
                <c:pt idx="9">
                  <c:v>0.48055248</c:v>
                </c:pt>
                <c:pt idx="10">
                  <c:v>0.49574278</c:v>
                </c:pt>
                <c:pt idx="11">
                  <c:v>0.48786372</c:v>
                </c:pt>
                <c:pt idx="12">
                  <c:v>0.48486265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Macro-F1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Original labels</c:v>
          </c:tx>
          <c:spPr>
            <a:ln xmlns:a="http://schemas.openxmlformats.org/drawingml/2006/main" w="28575">
              <a:solidFill>
                <a:srgbClr val="237B77"/>
              </a:solidFill>
            </a:ln>
          </c:spPr>
          <c:marker>
            <c:symbol val="none"/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0.5</c:v>
                </c:pt>
                <c:pt idx="1">
                  <c:v>1</c:v>
                </c:pt>
                <c:pt idx="2">
                  <c:v>2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0.52287812</c:v>
                </c:pt>
                <c:pt idx="1">
                  <c:v>0.44964287</c:v>
                </c:pt>
                <c:pt idx="2">
                  <c:v>0.3776762</c:v>
                </c:pt>
              </c:numCache>
            </c:numRef>
          </c:val>
          <c:smooth val="0"/>
        </c:ser>
        <c:ser>
          <c:idx val="1"/>
          <c:order val="1"/>
          <c:tx>
            <c:v>Recomputed rules</c:v>
          </c:tx>
          <c:spPr>
            <a:ln xmlns:a="http://schemas.openxmlformats.org/drawingml/2006/main" w="28575">
              <a:solidFill>
                <a:srgbClr val="D18B29"/>
              </a:solidFill>
            </a:ln>
          </c:spPr>
          <c:marker>
            <c:symbol val="none"/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0.5</c:v>
                </c:pt>
                <c:pt idx="1">
                  <c:v>1</c:v>
                </c:pt>
                <c:pt idx="2">
                  <c:v>2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0.5624815</c:v>
                </c:pt>
                <c:pt idx="1">
                  <c:v>0.5092235</c:v>
                </c:pt>
                <c:pt idx="2">
                  <c:v>0.44521802</c:v>
                </c:pt>
              </c:numCache>
            </c:numRef>
          </c:val>
          <c:smooth val="0"/>
        </c:ser>
        <c:ser>
          <c:idx val="2"/>
          <c:order val="2"/>
          <c:tx>
            <c:v>Rules vs original</c:v>
          </c:tx>
          <c:spPr>
            <a:ln xmlns:a="http://schemas.openxmlformats.org/drawingml/2006/main" w="28575">
              <a:solidFill>
                <a:srgbClr val="7D6CA7"/>
              </a:solidFill>
            </a:ln>
          </c:spPr>
          <c:marker>
            <c:symbol val="none"/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0.5</c:v>
                </c:pt>
                <c:pt idx="1">
                  <c:v>1</c:v>
                </c:pt>
                <c:pt idx="2">
                  <c:v>2</c:v>
                </c:pt>
              </c:numCache>
            </c:num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0.49783437</c:v>
                </c:pt>
                <c:pt idx="1">
                  <c:v>0.40338734</c:v>
                </c:pt>
                <c:pt idx="2">
                  <c:v>0.34195563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Noise σ (°C)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Macro-F1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7E254-FB22-4455-BE22-4F28E8BD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Heatwave severity with KNN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A15C8-CDBE-4F7B-8212-FA1F9EF7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EFDEE-BE9B-4EBF-A6E0-89298838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7B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237B77"/>
                </a:solidFill>
                <a:latin typeface="Helvetica Neue"/>
                <a:ea typeface="Helvetica Neue"/>
                <a:cs typeface="Helvetica Neue"/>
              </a:rPr>
              <a:t>Maharashtra · March–June · 2015–2025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E2FD6-CC40-41D2-BA77-EDF000B8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Same-day classification using real IMD observations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2F1A4-BBB9-4620-8D53-05D0E81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Machine Learning (216H13C501)</a:t>
            </a:r>
          </a:p>
          <a:p xmlns:a="http://schemas.openxmlformats.org/drawingml/2006/main">
            <a:pPr>
              <a:defRPr sz="210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Exp8 extension · KJS-CES-01</a:t>
            </a:r>
          </a:p>
        </p:txBody>
      </p:sp>
    </p:spTree>
    <p:extLst>
      <p:ext uri="{BB962C8B-B14F-4D97-AF65-F5344CB8AC3E}">
        <p14:creationId xmlns:p14="http://schemas.microsoft.com/office/powerpoint/2010/main" val="1456442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8F294-ACF7-42BB-A530-3B3F18AF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Data and climatological normal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B91C0-1125-402C-8DDD-5DD62C89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B29E7-51F6-4A84-8561-15602B52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rPr>
              <a:t>26 grid centres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4576E-12A5-40C2-B40E-0C957C54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1° IMD Tmax grid, clipped by Maharashtra cell centres.</a:t>
            </a:r>
          </a:p>
          <a:p xmlns:a="http://schemas.openxmlformats.org/drawingml/2006/main">
            <a:pPr>
              <a:def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34,892 March–June modelling observations.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557F4-76F7-42D9-9659-BAF3C1A9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Normal: pooled ±7-day window across 1991–2014.</a:t>
            </a:r>
          </a:p>
          <a:p xmlns:a="http://schemas.openxmlformats.org/drawingml/2006/main">
            <a:pPr>
              <a:def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Exclude 29 February and use a fixed 365-day calendar.</a:t>
            </a:r>
          </a:p>
          <a:p xmlns:a="http://schemas.openxmlformats.org/drawingml/2006/main">
            <a:pPr>
              <a:def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This normal differs from IMD’s official normal.</a:t>
            </a:r>
          </a:p>
        </p:txBody>
      </p:sp>
    </p:spTree>
    <p:extLst>
      <p:ext uri="{BB962C8B-B14F-4D97-AF65-F5344CB8AC3E}">
        <p14:creationId xmlns:p14="http://schemas.microsoft.com/office/powerpoint/2010/main" val="19021527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9DB80-CE77-40C1-B2A7-639B2367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Operational Heatwave Severity Rules</a:t>
            </a:r>
          </a:p>
          <a:p xmlns:a="http://schemas.openxmlformats.org/drawingml/2006/main">
            <a:pPr>
              <a:def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(Project Approximation)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22D7A-CAC8-4FBB-935F-08646BB8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585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667000"/>
                <a:gridCol w="295275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16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Heatwave</a:t>
                      </a:r>
                    </a:p>
                  </a:txBody>
                  <a:tcPr marL="91440" marR="91440" marT="45720" marB="45720">
                    <a:solidFill>
                      <a:srgbClr val="16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Severe</a:t>
                      </a:r>
                    </a:p>
                  </a:txBody>
                  <a:tcPr marL="91440" marR="91440" marT="45720" marB="45720">
                    <a:solidFill>
                      <a:srgbClr val="1634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Departure (Tmax meets base)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≥4.5°C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≥6.5°C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≥40°C</a:t>
                      </a:r>
                    </a:p>
                  </a:txBody>
                  <a:tcPr marL="91440" marR="91440" marT="45720" marB="45720">
                    <a:solidFill>
                      <a:srgbClr val="F0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Tmax ≥45°C</a:t>
                      </a:r>
                    </a:p>
                  </a:txBody>
                  <a:tcPr marL="91440" marR="91440" marT="45720" marB="45720">
                    <a:solidFill>
                      <a:srgbClr val="F0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Tmax ≥47°C</a:t>
                      </a:r>
                    </a:p>
                  </a:txBody>
                  <a:tcPr marL="91440" marR="91440" marT="45720" marB="45720">
                    <a:solidFill>
                      <a:srgbClr val="F0F3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AD71B-F449-4F93-9EA3-568328BF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Base Tmax: plains 40°C, coastal 37°C, hilly 30°C.</a:t>
            </a:r>
          </a:p>
          <a:p xmlns:a="http://schemas.openxmlformats.org/drawingml/2006/main">
            <a:pPr>
              <a:def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Below the base: Normal. Higher applicable severity wins.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C0A23-8D3F-4C5A-8A97-9972E20A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Own geographic region lookup, without terrain validation.</a:t>
            </a:r>
          </a:p>
          <a:p xmlns:a="http://schemas.openxmlformats.org/drawingml/2006/main">
            <a:pPr>
              <a:defRPr sz="180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Cell/day rules omit station-level persistence criteria.</a:t>
            </a:r>
          </a:p>
        </p:txBody>
      </p:sp>
    </p:spTree>
    <p:extLst>
      <p:ext uri="{BB962C8B-B14F-4D97-AF65-F5344CB8AC3E}">
        <p14:creationId xmlns:p14="http://schemas.microsoft.com/office/powerpoint/2010/main" val="6277033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006B5-3216-4CE0-A29F-13100474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The Severe class has no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177D4-E725-48CA-9535-CC15F699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3238500"/>
                <a:gridCol w="276225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Severity</a:t>
                      </a:r>
                    </a:p>
                  </a:txBody>
                  <a:tcPr marL="91440" marR="91440" marT="45720" marB="45720">
                    <a:solidFill>
                      <a:srgbClr val="16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 2015–2022</a:t>
                      </a:r>
                    </a:p>
                  </a:txBody>
                  <a:tcPr marL="91440" marR="91440" marT="45720" marB="45720">
                    <a:solidFill>
                      <a:srgbClr val="16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2023–2025</a:t>
                      </a:r>
                    </a:p>
                  </a:txBody>
                  <a:tcPr marL="91440" marR="91440" marT="45720" marB="45720">
                    <a:solidFill>
                      <a:srgbClr val="1634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25,234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9,495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Heatwave</a:t>
                      </a:r>
                    </a:p>
                  </a:txBody>
                  <a:tcPr marL="91440" marR="91440" marT="45720" marB="45720">
                    <a:solidFill>
                      <a:srgbClr val="F0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142</a:t>
                      </a:r>
                    </a:p>
                  </a:txBody>
                  <a:tcPr marL="91440" marR="91440" marT="45720" marB="45720">
                    <a:solidFill>
                      <a:srgbClr val="F0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0F3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Severe Heatwave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912AB-0F21-4ACF-BEB5-CFE62A28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34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34538"/>
                </a:solidFill>
                <a:latin typeface="Helvetica Neue"/>
                <a:ea typeface="Helvetica Neue"/>
                <a:cs typeface="Helvetica Neue"/>
              </a:rPr>
              <a:t>Severe recall is unavailable. The trained KNN cannot predict Severe.</a:t>
            </a:r>
          </a:p>
          <a:p xmlns:a="http://schemas.openxmlformats.org/drawingml/2006/main">
            <a:pPr>
              <a:defRPr sz="2175" b="1">
                <a:solidFill>
                  <a:srgbClr val="A34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34538"/>
                </a:solidFill>
                <a:latin typeface="Helvetica Neue"/>
                <a:ea typeface="Helvetica Neue"/>
                <a:cs typeface="Helvetica Neue"/>
              </a:rPr>
              <a:t>Fixed three-class macro-F1 has a maximum of 2/3 for these data.</a:t>
            </a:r>
          </a:p>
        </p:txBody>
      </p:sp>
    </p:spTree>
    <p:extLst>
      <p:ext uri="{BB962C8B-B14F-4D97-AF65-F5344CB8AC3E}">
        <p14:creationId xmlns:p14="http://schemas.microsoft.com/office/powerpoint/2010/main" val="1762527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4793A-B3D1-4420-BE53-C122B37F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One pipeline for analysis and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F6CBE-3693-46C1-991C-C31CCCA6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FA3FB-4F55-4F2E-8F0E-DD866825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rPr>
              <a:t>Raw date, location, region, Tmax and normal Tmax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2E6C2-A45D-41FE-AC91-4F97A573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76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FeatureBuilder recomputes departure and seasonal sine/cosine.</a:t>
            </a:r>
          </a:p>
          <a:p xmlns:a="http://schemas.openxmlformats.org/drawingml/2006/main">
            <a:pPr>
              <a:def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StandardScaler fits six numeric features inside each fold.</a:t>
            </a:r>
          </a:p>
          <a:p xmlns:a="http://schemas.openxmlformats.org/drawingml/2006/main">
            <a:pPr>
              <a:def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OneHotEncoder handles the project region type.</a:t>
            </a:r>
          </a:p>
          <a:p xmlns:a="http://schemas.openxmlformats.org/drawingml/2006/main">
            <a:pPr>
              <a:def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KNN assigns the same-day severity.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DF33A-C3B5-49D5-871C-C2180DF2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Eight year folds, 52 configurations, macro-F1 selection.</a:t>
            </a:r>
          </a:p>
          <a:p xmlns:a="http://schemas.openxmlformats.org/drawingml/2006/main">
            <a:pPr>
              <a:defRPr sz="2025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K = 1, 3, …, 25; Euclidean or Manhattan; uniform or distance.</a:t>
            </a:r>
          </a:p>
        </p:txBody>
      </p:sp>
    </p:spTree>
    <p:extLst>
      <p:ext uri="{BB962C8B-B14F-4D97-AF65-F5344CB8AC3E}">
        <p14:creationId xmlns:p14="http://schemas.microsoft.com/office/powerpoint/2010/main" val="3032004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23D37-07EC-4AF0-A844-AC50E436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K sensitivity: Euclidean, uniform voting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99E7F-304C-4A4D-AEA3-FC082E31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547687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c304357c404b7d"/>
          </a:graphicData>
        </a:graphic>
      </p:graphicFrame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191250" y="1524000"/>
          <a:ext xmlns:a="http://schemas.openxmlformats.org/drawingml/2006/main" cx="547687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b6038b86ba49a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3719D-1288-44FC-99FD-EBD70098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Selected: K=1, Euclidean distance, uniform voting.</a:t>
            </a:r>
          </a:p>
          <a:p xmlns:a="http://schemas.openxmlformats.org/drawingml/2006/main">
            <a:pPr>
              <a:defRPr sz="2025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Uniform voting makes the larger-K training trade-off visible.</a:t>
            </a:r>
          </a:p>
        </p:txBody>
      </p:sp>
    </p:spTree>
    <p:extLst>
      <p:ext uri="{BB962C8B-B14F-4D97-AF65-F5344CB8AC3E}">
        <p14:creationId xmlns:p14="http://schemas.microsoft.com/office/powerpoint/2010/main" val="5032780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A5617-3617-4966-8C1A-5D1A8350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Held-out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D81EB-66D8-47C5-885A-2FF7029A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048000"/>
                <a:gridCol w="304800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6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91440" marR="91440" marT="45720" marB="45720">
                    <a:solidFill>
                      <a:srgbClr val="16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Majority baseline</a:t>
                      </a:r>
                    </a:p>
                  </a:txBody>
                  <a:tcPr marL="91440" marR="91440" marT="45720" marB="45720">
                    <a:solidFill>
                      <a:srgbClr val="1634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Macro-F1 (three classes)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0.5999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0.3330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Heatwave recall</a:t>
                      </a:r>
                    </a:p>
                  </a:txBody>
                  <a:tcPr marL="91440" marR="91440" marT="45720" marB="45720">
                    <a:solidFill>
                      <a:srgbClr val="F0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16/21 = 76.2%</a:t>
                      </a:r>
                    </a:p>
                  </a:txBody>
                  <a:tcPr marL="91440" marR="91440" marT="45720" marB="45720">
                    <a:solidFill>
                      <a:srgbClr val="F0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0/21 = 0%</a:t>
                      </a:r>
                    </a:p>
                  </a:txBody>
                  <a:tcPr marL="91440" marR="91440" marT="45720" marB="45720">
                    <a:solidFill>
                      <a:srgbClr val="F0F3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Severe recall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N/A, zero support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N/A, zero support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F0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99.92%</a:t>
                      </a:r>
                    </a:p>
                  </a:txBody>
                  <a:tcPr marL="91440" marR="91440" marT="45720" marB="45720">
                    <a:solidFill>
                      <a:srgbClr val="F0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99.78%</a:t>
                      </a:r>
                    </a:p>
                  </a:txBody>
                  <a:tcPr marL="91440" marR="91440" marT="45720" marB="45720">
                    <a:solidFill>
                      <a:srgbClr val="F0F3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328BC-B7A9-4C82-A8B7-4C54709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rPr>
              <a:t>Heatwave precision: 84.2%. Heatwave F1: 0.800.</a:t>
            </a:r>
          </a:p>
          <a:p xmlns:a="http://schemas.openxmlformats.org/drawingml/2006/main">
            <a:pPr>
              <a:defRPr sz="2100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rPr>
              <a:t>Accuracy alone hides the rare-class errors.</a:t>
            </a:r>
          </a:p>
        </p:txBody>
      </p:sp>
    </p:spTree>
    <p:extLst>
      <p:ext uri="{BB962C8B-B14F-4D97-AF65-F5344CB8AC3E}">
        <p14:creationId xmlns:p14="http://schemas.microsoft.com/office/powerpoint/2010/main" val="21105848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2BF3A-F33E-43AC-99FB-C9DFE8DE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Reading noise changes both inputs and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56297-1777-4910-A74D-8850F4D1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7048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60f0dff8244b1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202D8-6857-4D84-A82B-0CE27B5D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9750"/>
            <a:ext cx="338137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Five fixed seeds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Normal temperature</a:t>
            </a:r>
          </a:p>
          <a:p xmlns:a="http://schemas.openxmlformats.org/drawingml/2006/main">
            <a:pPr>
              <a:def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stays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Departure and rules</a:t>
            </a:r>
          </a:p>
          <a:p xmlns:a="http://schemas.openxmlformats.org/drawingml/2006/main">
            <a:pPr>
              <a:def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are recomputed.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A7A15-5216-4381-97CF-742790A8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Original-label Severe recall remains N/A. If noisy rules create Severe cases,</a:t>
            </a:r>
          </a:p>
          <a:p xmlns:a="http://schemas.openxmlformats.org/drawingml/2006/main">
            <a:pPr>
              <a:defRPr sz="19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this KNN still has no Severe neighbours to learn from.</a:t>
            </a:r>
          </a:p>
        </p:txBody>
      </p:sp>
    </p:spTree>
    <p:extLst>
      <p:ext uri="{BB962C8B-B14F-4D97-AF65-F5344CB8AC3E}">
        <p14:creationId xmlns:p14="http://schemas.microsoft.com/office/powerpoint/2010/main" val="526294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3AB6E-550A-4B40-972B-090AE56C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Demonstration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00529-EBCA-434D-BF25-FF63B809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03E9D-BF9D-4E0E-952F-FD0EC9E3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rPr>
              <a:t>The app compares KNN with the project rule label.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FA869-6510-40F1-9B86-28DAC191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76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Enter Tmax, normal Tmax, a March–June date and a Maharashtra location.</a:t>
            </a:r>
          </a:p>
          <a:p xmlns:a="http://schemas.openxmlformats.org/drawingml/2006/main">
            <a:pPr>
              <a:def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Inspect departure, nearest-cell region and neighbour vote shares.</a:t>
            </a:r>
          </a:p>
          <a:p xmlns:a="http://schemas.openxmlformats.org/drawingml/2006/main">
            <a:pPr>
              <a:def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Vote shares are not calibrated probabilities.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3BAEC-9262-47BD-A365-CD9F8A04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Labels come from two model inputs. This evaluates approximation of</a:t>
            </a:r>
          </a:p>
          <a:p xmlns:a="http://schemas.openxmlformats.org/drawingml/2006/main">
            <a:pPr>
              <a:defRPr sz="22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operational decision boundaries, not independent forecasting capability.</a:t>
            </a:r>
          </a:p>
        </p:txBody>
      </p:sp>
    </p:spTree>
    <p:extLst>
      <p:ext uri="{BB962C8B-B14F-4D97-AF65-F5344CB8AC3E}">
        <p14:creationId xmlns:p14="http://schemas.microsoft.com/office/powerpoint/2010/main" val="1908141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83E37-DC6E-4B3D-8992-82EE3201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Limits and team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1F667-71CC-472F-8D41-CCBEC86E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76B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255F3-75CE-4674-9524-7A32D060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345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A34538"/>
                </a:solidFill>
                <a:latin typeface="Helvetica Neue"/>
                <a:ea typeface="Helvetica Neue"/>
                <a:cs typeface="Helvetica Neue"/>
              </a:rPr>
              <a:t>Three-class learning remains unsupported by these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5CCB5-5572-480C-AF02-6A007049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763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Zero Severe examples and only 21 Heatwave test examples limit conclusions.</a:t>
            </a:r>
          </a:p>
          <a:p xmlns:a="http://schemas.openxmlformats.org/drawingml/2006/main">
            <a:pPr>
              <a:def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The coarse grid smooths local extremes.</a:t>
            </a:r>
          </a:p>
          <a:p xmlns:a="http://schemas.openxmlformats.org/drawingml/2006/main">
            <a:pPr>
              <a:def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The coastal/hilly/plains assignment is an unvalidated location proxy.</a:t>
            </a:r>
          </a:p>
          <a:p xmlns:a="http://schemas.openxmlformats.org/drawingml/2006/main">
            <a:pPr>
              <a:def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43B"/>
                </a:solidFill>
                <a:latin typeface="Helvetica Neue"/>
                <a:ea typeface="Helvetica Neue"/>
                <a:cs typeface="Helvetica Neue"/>
              </a:rPr>
              <a:t>Spatial and temporal correlation reduce independent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DE686-E402-4CD6-8C40-0AA034B9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rPr>
              <a:t>Revisit class feasibility with the team before submission.</a:t>
            </a:r>
          </a:p>
          <a:p xmlns:a="http://schemas.openxmlformats.org/drawingml/2006/main">
            <a:pPr>
              <a:defRPr sz="2025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37B77"/>
                </a:solidFill>
                <a:latin typeface="Helvetica Neue"/>
                <a:ea typeface="Helvetica Neue"/>
                <a:cs typeface="Helvetica Neue"/>
              </a:rPr>
              <a:t>Keep any change to period, resolution or rules explicit and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590858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2026-09-28T17:04:15.3300000Z</dcterms:created>
  <dcterms:modified xsi:type="dcterms:W3CDTF">2026-09-28T17:04:15.3300000Z</dcterms:modified>
</coreProperties>
</file>